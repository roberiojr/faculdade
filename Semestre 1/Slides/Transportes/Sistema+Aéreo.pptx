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61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950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387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354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124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7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6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10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43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99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65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1122E-63BC-4696-96D4-9D38878B5A09}" type="datetimeFigureOut">
              <a:rPr lang="pt-BR" smtClean="0"/>
              <a:t>26/09/2018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33669-EEBB-4967-BA5A-DFA53AFAB8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869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Centro_de_distribui%C3%A7%C3%A3o" TargetMode="External"/><Relationship Id="rId2" Type="http://schemas.openxmlformats.org/officeDocument/2006/relationships/hyperlink" Target="https://pt.wikipedia.org/wiki/Cidad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pt.wikipedia.org/wiki/Hub" TargetMode="External"/><Relationship Id="rId4" Type="http://schemas.openxmlformats.org/officeDocument/2006/relationships/hyperlink" Target="https://pt.wikipedia.org/wiki/Avi%C3%A3o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Sistema Aéreo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287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Sistemas Aéreo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sistema de transporte aéreo é formado por aerovias que conectam terminais e </a:t>
            </a:r>
            <a:r>
              <a:rPr lang="pt-BR" dirty="0" smtClean="0"/>
              <a:t>através das </a:t>
            </a:r>
            <a:r>
              <a:rPr lang="pt-BR" dirty="0"/>
              <a:t>quais transitam aeronaves (aviões e helicópteros) transportando passageiros e cargas.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204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Classificação dos Sistemas de Transporte Aéreo quanto aos Níveis de Atuação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Doméstico Nacional (Brasil)</a:t>
            </a:r>
          </a:p>
          <a:p>
            <a:pPr marL="0" indent="0">
              <a:buNone/>
            </a:pPr>
            <a:r>
              <a:rPr lang="pt-BR" dirty="0"/>
              <a:t>Interligam grandes centros populacionais e econômicos, ou seja, capitais dos estados </a:t>
            </a:r>
            <a:r>
              <a:rPr lang="pt-BR" dirty="0" smtClean="0"/>
              <a:t>e cidades </a:t>
            </a:r>
            <a:r>
              <a:rPr lang="pt-BR" dirty="0"/>
              <a:t>de grande porte.</a:t>
            </a:r>
          </a:p>
        </p:txBody>
      </p:sp>
    </p:spTree>
    <p:extLst>
      <p:ext uri="{BB962C8B-B14F-4D97-AF65-F5344CB8AC3E}">
        <p14:creationId xmlns:p14="http://schemas.microsoft.com/office/powerpoint/2010/main" val="1950646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Classificação dos Sistemas de Transporte Aéreo quanto aos Níveis de Atuação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 Internacional </a:t>
            </a:r>
          </a:p>
          <a:p>
            <a:pPr marL="0" indent="0">
              <a:buNone/>
            </a:pPr>
            <a:r>
              <a:rPr lang="pt-BR" dirty="0"/>
              <a:t>Transporte interligando aeroportos de diferentes países, geralmente, através de </a:t>
            </a:r>
            <a:r>
              <a:rPr lang="pt-BR" dirty="0" smtClean="0"/>
              <a:t>grandes aeronaves</a:t>
            </a:r>
            <a:r>
              <a:rPr lang="pt-BR" dirty="0"/>
              <a:t>, com acompanhamento e fiscalização também de Órgãos Internacionais, </a:t>
            </a:r>
            <a:r>
              <a:rPr lang="pt-BR" dirty="0" smtClean="0"/>
              <a:t>tais como </a:t>
            </a:r>
            <a:r>
              <a:rPr lang="pt-BR" dirty="0"/>
              <a:t>IATA.</a:t>
            </a:r>
          </a:p>
        </p:txBody>
      </p:sp>
    </p:spTree>
    <p:extLst>
      <p:ext uri="{BB962C8B-B14F-4D97-AF65-F5344CB8AC3E}">
        <p14:creationId xmlns:p14="http://schemas.microsoft.com/office/powerpoint/2010/main" val="89113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>
            <a:normAutofit/>
          </a:bodyPr>
          <a:lstStyle/>
          <a:p>
            <a:r>
              <a:rPr lang="pt-BR" b="1" dirty="0"/>
              <a:t>Relacionados à Operação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l="19810" t="27773" r="15653" b="19410"/>
          <a:stretch/>
        </p:blipFill>
        <p:spPr>
          <a:xfrm>
            <a:off x="75216" y="1825625"/>
            <a:ext cx="9068784" cy="417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87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>
            <a:normAutofit/>
          </a:bodyPr>
          <a:lstStyle/>
          <a:p>
            <a:r>
              <a:rPr lang="pt-BR" b="1" dirty="0"/>
              <a:t>Relacionados à Operação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l="19810" t="27773" r="15653" b="19410"/>
          <a:stretch/>
        </p:blipFill>
        <p:spPr>
          <a:xfrm>
            <a:off x="75216" y="1825625"/>
            <a:ext cx="9068784" cy="417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15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>
            <a:normAutofit/>
          </a:bodyPr>
          <a:lstStyle/>
          <a:p>
            <a:r>
              <a:rPr lang="pt-BR" b="1" dirty="0"/>
              <a:t>Relacionados à Operação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542290"/>
            <a:ext cx="9144000" cy="4351338"/>
          </a:xfrm>
        </p:spPr>
        <p:txBody>
          <a:bodyPr/>
          <a:lstStyle/>
          <a:p>
            <a:r>
              <a:rPr lang="pt-BR" dirty="0" smtClean="0"/>
              <a:t>Hub </a:t>
            </a:r>
            <a:r>
              <a:rPr lang="pt-BR" dirty="0" err="1" smtClean="0"/>
              <a:t>and</a:t>
            </a:r>
            <a:r>
              <a:rPr lang="pt-BR" dirty="0" smtClean="0"/>
              <a:t> </a:t>
            </a:r>
            <a:r>
              <a:rPr lang="pt-BR" dirty="0" err="1" smtClean="0"/>
              <a:t>spoke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i="1" dirty="0"/>
              <a:t>hub-</a:t>
            </a:r>
            <a:r>
              <a:rPr lang="pt-BR" i="1" dirty="0" err="1"/>
              <a:t>and</a:t>
            </a:r>
            <a:r>
              <a:rPr lang="pt-BR" i="1" dirty="0"/>
              <a:t>-</a:t>
            </a:r>
            <a:r>
              <a:rPr lang="pt-BR" i="1" dirty="0" err="1"/>
              <a:t>spoke</a:t>
            </a:r>
            <a:r>
              <a:rPr lang="pt-BR" dirty="0"/>
              <a:t> as empresas aéreas escolhem uma determinada </a:t>
            </a:r>
            <a:r>
              <a:rPr lang="pt-BR" dirty="0">
                <a:hlinkClick r:id="rId2" tooltip="Cidade"/>
              </a:rPr>
              <a:t>cidade</a:t>
            </a:r>
            <a:r>
              <a:rPr lang="pt-BR" dirty="0"/>
              <a:t> para ser o </a:t>
            </a:r>
            <a:r>
              <a:rPr lang="pt-BR" dirty="0">
                <a:hlinkClick r:id="rId3" tooltip="Centro de distribuição"/>
              </a:rPr>
              <a:t>centro de distribuição</a:t>
            </a:r>
            <a:r>
              <a:rPr lang="pt-BR" dirty="0"/>
              <a:t> dos seus voos, fazendo com que os passageiros mudem de </a:t>
            </a:r>
            <a:r>
              <a:rPr lang="pt-BR" dirty="0">
                <a:hlinkClick r:id="rId4" tooltip="Avião"/>
              </a:rPr>
              <a:t>avião</a:t>
            </a:r>
            <a:r>
              <a:rPr lang="pt-BR" dirty="0"/>
              <a:t> no aeroporto </a:t>
            </a:r>
            <a:r>
              <a:rPr lang="pt-BR" dirty="0" err="1"/>
              <a:t>seleccionado</a:t>
            </a:r>
            <a:r>
              <a:rPr lang="pt-BR" dirty="0"/>
              <a:t> como </a:t>
            </a:r>
            <a:r>
              <a:rPr lang="pt-BR" i="1" dirty="0">
                <a:hlinkClick r:id="rId5" tooltip="Hub"/>
              </a:rPr>
              <a:t>hub</a:t>
            </a:r>
            <a:r>
              <a:rPr lang="pt-BR" dirty="0"/>
              <a:t>.</a:t>
            </a:r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6"/>
          <a:srcRect t="9287" r="68708" b="67121"/>
          <a:stretch/>
        </p:blipFill>
        <p:spPr>
          <a:xfrm>
            <a:off x="2012235" y="4378816"/>
            <a:ext cx="4800689" cy="203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63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>
            <a:normAutofit/>
          </a:bodyPr>
          <a:lstStyle/>
          <a:p>
            <a:r>
              <a:rPr lang="pt-BR" b="1" dirty="0"/>
              <a:t>Relacionados à Operação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928656"/>
            <a:ext cx="9144000" cy="2282736"/>
          </a:xfrm>
        </p:spPr>
        <p:txBody>
          <a:bodyPr>
            <a:normAutofit fontScale="92500"/>
          </a:bodyPr>
          <a:lstStyle/>
          <a:p>
            <a:r>
              <a:rPr lang="pt-BR" b="1" i="1" dirty="0"/>
              <a:t>Hub-point – </a:t>
            </a:r>
            <a:r>
              <a:rPr lang="pt-BR" dirty="0"/>
              <a:t>ponto central, onde há recepção e posterior redistribuição </a:t>
            </a:r>
            <a:r>
              <a:rPr lang="pt-BR" dirty="0" smtClean="0"/>
              <a:t>de passageiros </a:t>
            </a:r>
            <a:r>
              <a:rPr lang="pt-BR" dirty="0"/>
              <a:t>e cargas para destinos diversos. </a:t>
            </a:r>
            <a:endParaRPr lang="pt-BR" dirty="0" smtClean="0"/>
          </a:p>
          <a:p>
            <a:endParaRPr lang="pt-BR" dirty="0"/>
          </a:p>
          <a:p>
            <a:r>
              <a:rPr lang="pt-BR" b="1" i="1" dirty="0"/>
              <a:t>Point-</a:t>
            </a:r>
            <a:r>
              <a:rPr lang="pt-BR" b="1" i="1" dirty="0" err="1"/>
              <a:t>to</a:t>
            </a:r>
            <a:r>
              <a:rPr lang="pt-BR" b="1" i="1" dirty="0"/>
              <a:t>-point – </a:t>
            </a:r>
            <a:r>
              <a:rPr lang="pt-BR" i="1" dirty="0"/>
              <a:t>Ligação direta entre uma origem e um destino, sem escalas </a:t>
            </a:r>
            <a:r>
              <a:rPr lang="pt-BR" i="1" dirty="0" smtClean="0"/>
              <a:t>ou </a:t>
            </a:r>
            <a:r>
              <a:rPr lang="pt-BR" dirty="0" smtClean="0"/>
              <a:t>conexões</a:t>
            </a:r>
            <a:r>
              <a:rPr lang="pt-BR" dirty="0"/>
              <a:t>. Ex.: ligação entre A e B.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7944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>
            <a:normAutofit/>
          </a:bodyPr>
          <a:lstStyle/>
          <a:p>
            <a:r>
              <a:rPr lang="pt-BR" b="1" dirty="0"/>
              <a:t>Relacionados à </a:t>
            </a:r>
            <a:r>
              <a:rPr lang="pt-BR" b="1" dirty="0" smtClean="0"/>
              <a:t>Gestão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0" y="1825625"/>
            <a:ext cx="9144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• </a:t>
            </a:r>
            <a:r>
              <a:rPr lang="pt-BR" b="1" dirty="0"/>
              <a:t>ANAC (Agência Nacional de Aviação Civil) – Autarquia especial, vinculada à </a:t>
            </a:r>
            <a:r>
              <a:rPr lang="pt-BR" dirty="0" smtClean="0"/>
              <a:t>Secretaria </a:t>
            </a:r>
            <a:r>
              <a:rPr lang="pt-BR" dirty="0"/>
              <a:t>de Aviação Civil da Presidência da República, que tem como </a:t>
            </a:r>
            <a:r>
              <a:rPr lang="pt-BR" dirty="0" smtClean="0"/>
              <a:t>atribuições, regular </a:t>
            </a:r>
            <a:r>
              <a:rPr lang="pt-BR" dirty="0"/>
              <a:t>e fiscalizar as atividades de aviação civil e de infraestrutura aeronáutica </a:t>
            </a:r>
            <a:r>
              <a:rPr lang="pt-BR" dirty="0" smtClean="0"/>
              <a:t>e aeroportuária</a:t>
            </a:r>
            <a:r>
              <a:rPr lang="pt-BR" dirty="0"/>
              <a:t>.</a:t>
            </a:r>
            <a:endParaRPr lang="pt-BR" b="1" dirty="0"/>
          </a:p>
          <a:p>
            <a:pPr marL="0" indent="0">
              <a:buNone/>
            </a:pPr>
            <a:r>
              <a:rPr lang="pt-BR" b="1" dirty="0"/>
              <a:t> </a:t>
            </a:r>
          </a:p>
          <a:p>
            <a:pPr marL="0" indent="0">
              <a:buNone/>
            </a:pPr>
            <a:r>
              <a:rPr lang="pt-BR" dirty="0"/>
              <a:t>• </a:t>
            </a:r>
            <a:r>
              <a:rPr lang="pt-BR" b="1" dirty="0"/>
              <a:t>IATA (</a:t>
            </a:r>
            <a:r>
              <a:rPr lang="pt-BR" b="1" i="1" dirty="0" err="1"/>
              <a:t>International</a:t>
            </a:r>
            <a:r>
              <a:rPr lang="pt-BR" b="1" i="1" dirty="0"/>
              <a:t> Air </a:t>
            </a:r>
            <a:r>
              <a:rPr lang="pt-BR" b="1" i="1" dirty="0" err="1"/>
              <a:t>Transport</a:t>
            </a:r>
            <a:r>
              <a:rPr lang="pt-BR" b="1" i="1" dirty="0"/>
              <a:t> </a:t>
            </a:r>
            <a:r>
              <a:rPr lang="pt-BR" b="1" i="1" dirty="0" err="1"/>
              <a:t>Association</a:t>
            </a:r>
            <a:r>
              <a:rPr lang="pt-BR" b="1" i="1" dirty="0"/>
              <a:t>) - organização sediada em </a:t>
            </a:r>
            <a:r>
              <a:rPr lang="pt-BR" b="1" i="1" dirty="0" smtClean="0"/>
              <a:t>Genebra </a:t>
            </a:r>
            <a:r>
              <a:rPr lang="pt-BR" dirty="0" smtClean="0"/>
              <a:t>com </a:t>
            </a:r>
            <a:r>
              <a:rPr lang="pt-BR" dirty="0"/>
              <a:t>a finalidade de criar regras para voos internacionais e normas para as </a:t>
            </a:r>
            <a:r>
              <a:rPr lang="pt-BR" dirty="0" smtClean="0"/>
              <a:t>empresas afiliadas</a:t>
            </a:r>
            <a:r>
              <a:rPr lang="pt-BR" dirty="0"/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170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>
            <a:normAutofit/>
          </a:bodyPr>
          <a:lstStyle/>
          <a:p>
            <a:r>
              <a:rPr lang="pt-BR" b="1" dirty="0"/>
              <a:t>Relacionados à </a:t>
            </a:r>
            <a:r>
              <a:rPr lang="pt-BR" b="1" dirty="0" smtClean="0"/>
              <a:t>Gestão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0" y="1825625"/>
            <a:ext cx="91440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• </a:t>
            </a:r>
            <a:r>
              <a:rPr lang="pt-BR" b="1" dirty="0"/>
              <a:t>INFRAERO (Empresa Brasileira de Infraestrutura Aeroportuária) – vinculada </a:t>
            </a:r>
            <a:r>
              <a:rPr lang="pt-BR" b="1" dirty="0" smtClean="0"/>
              <a:t>à </a:t>
            </a:r>
            <a:r>
              <a:rPr lang="pt-BR" dirty="0" smtClean="0"/>
              <a:t>Secretaria </a:t>
            </a:r>
            <a:r>
              <a:rPr lang="pt-BR" dirty="0"/>
              <a:t>de Aviação Civil da Presidência da República, com finalidade </a:t>
            </a:r>
            <a:r>
              <a:rPr lang="pt-BR" dirty="0" smtClean="0"/>
              <a:t>de implantar</a:t>
            </a:r>
            <a:r>
              <a:rPr lang="pt-BR" dirty="0"/>
              <a:t>, administrar e apoiar a navegação aérea, prestar consultoria </a:t>
            </a:r>
            <a:r>
              <a:rPr lang="pt-BR" dirty="0" smtClean="0"/>
              <a:t>e assessoramento </a:t>
            </a:r>
            <a:r>
              <a:rPr lang="pt-BR" dirty="0"/>
              <a:t>em suas áreas de atuação e na construção de aeroportos, além </a:t>
            </a:r>
            <a:r>
              <a:rPr lang="pt-BR" dirty="0" smtClean="0"/>
              <a:t>de quaisquer </a:t>
            </a:r>
            <a:r>
              <a:rPr lang="pt-BR" dirty="0"/>
              <a:t>atividades afins conferidas pela SAC/PR. </a:t>
            </a:r>
            <a:r>
              <a:rPr lang="pt-BR" dirty="0" smtClean="0"/>
              <a:t>.</a:t>
            </a:r>
            <a:endParaRPr lang="pt-BR" b="1" dirty="0"/>
          </a:p>
          <a:p>
            <a:pPr marL="0" indent="0">
              <a:buNone/>
            </a:pPr>
            <a:r>
              <a:rPr lang="pt-BR" b="1" dirty="0"/>
              <a:t> </a:t>
            </a:r>
          </a:p>
          <a:p>
            <a:pPr marL="0" indent="0">
              <a:buNone/>
            </a:pPr>
            <a:r>
              <a:rPr lang="pt-BR" dirty="0"/>
              <a:t>• </a:t>
            </a:r>
            <a:r>
              <a:rPr lang="pt-BR" b="1" dirty="0"/>
              <a:t>SAC/PR (Secretaria de Aviação Civil da Presidência da República) – ligada </a:t>
            </a:r>
            <a:r>
              <a:rPr lang="pt-BR" b="1" dirty="0" smtClean="0"/>
              <a:t>à </a:t>
            </a:r>
            <a:r>
              <a:rPr lang="pt-BR" dirty="0" smtClean="0"/>
              <a:t>Presidência </a:t>
            </a:r>
            <a:r>
              <a:rPr lang="pt-BR" dirty="0"/>
              <a:t>da República, esta Secretaria elabora estudos e projeções relativos </a:t>
            </a:r>
            <a:r>
              <a:rPr lang="pt-BR" dirty="0" smtClean="0"/>
              <a:t>aos </a:t>
            </a:r>
            <a:r>
              <a:rPr lang="pt-BR" dirty="0"/>
              <a:t>assuntos de aviação civil e de infraestruturas aeroportuárias e aeronáutica civil. </a:t>
            </a:r>
            <a:r>
              <a:rPr lang="pt-BR" dirty="0" smtClean="0"/>
              <a:t>A ela </a:t>
            </a:r>
            <a:r>
              <a:rPr lang="pt-BR" dirty="0"/>
              <a:t>estão vinculadas a ANAC e INFRAERO.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9733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Relacionados aos Veículos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22681" t="22843" r="21196" b="47931"/>
          <a:stretch/>
        </p:blipFill>
        <p:spPr>
          <a:xfrm>
            <a:off x="0" y="1442434"/>
            <a:ext cx="8963696" cy="262429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138" y="3684218"/>
            <a:ext cx="4460451" cy="317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71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Relacionados aos Veículos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825625"/>
            <a:ext cx="9144000" cy="4351338"/>
          </a:xfrm>
        </p:spPr>
        <p:txBody>
          <a:bodyPr/>
          <a:lstStyle/>
          <a:p>
            <a:pPr marL="0" indent="0">
              <a:buNone/>
            </a:pPr>
            <a:r>
              <a:rPr lang="pt-BR" b="1" dirty="0" err="1"/>
              <a:t>Antonov</a:t>
            </a:r>
            <a:r>
              <a:rPr lang="pt-BR" b="1" dirty="0"/>
              <a:t> AN-225 – </a:t>
            </a:r>
            <a:r>
              <a:rPr lang="pt-BR" dirty="0"/>
              <a:t>Maior avião cargueiro do Mundo, de origem Russa 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07" y="2811051"/>
            <a:ext cx="3468613" cy="206014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003" y="2785139"/>
            <a:ext cx="3168208" cy="210685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964" y="5074193"/>
            <a:ext cx="1918072" cy="178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55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Relacionados aos Veículos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l="28025" t="26716" r="27332" b="8847"/>
          <a:stretch/>
        </p:blipFill>
        <p:spPr>
          <a:xfrm>
            <a:off x="1246834" y="1640695"/>
            <a:ext cx="6428973" cy="521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84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Relacionados aos Veículos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l="28025" t="26716" r="27332" b="8847"/>
          <a:stretch/>
        </p:blipFill>
        <p:spPr>
          <a:xfrm>
            <a:off x="1246834" y="1640695"/>
            <a:ext cx="6428973" cy="521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81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Relacionados aos Veículos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28224" t="23195" r="28818" b="59023"/>
          <a:stretch/>
        </p:blipFill>
        <p:spPr>
          <a:xfrm>
            <a:off x="0" y="1825625"/>
            <a:ext cx="9200236" cy="214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10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380</Words>
  <Application>Microsoft Office PowerPoint</Application>
  <PresentationFormat>Apresentação na tela (4:3)</PresentationFormat>
  <Paragraphs>33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Sistema Aéreo</vt:lpstr>
      <vt:lpstr>Sistemas Aéreo</vt:lpstr>
      <vt:lpstr>Classificação dos Sistemas de Transporte Aéreo quanto aos Níveis de Atuação</vt:lpstr>
      <vt:lpstr>Classificação dos Sistemas de Transporte Aéreo quanto aos Níveis de Atuação</vt:lpstr>
      <vt:lpstr>Relacionados à Operação</vt:lpstr>
      <vt:lpstr>Relacionados à Operação</vt:lpstr>
      <vt:lpstr>Relacionados à Operação</vt:lpstr>
      <vt:lpstr>Relacionados à Operação</vt:lpstr>
      <vt:lpstr>Relacionados à Gestão</vt:lpstr>
      <vt:lpstr>Relacionados à Gestão</vt:lpstr>
      <vt:lpstr>Relacionados aos Veículos</vt:lpstr>
      <vt:lpstr>Relacionados aos Veículos</vt:lpstr>
      <vt:lpstr>Relacionados aos Veículos</vt:lpstr>
      <vt:lpstr>Relacionados aos Veículos</vt:lpstr>
      <vt:lpstr>Relacionados aos Veículos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Aéreo</dc:title>
  <dc:creator>Cerest</dc:creator>
  <cp:lastModifiedBy>Cerest</cp:lastModifiedBy>
  <cp:revision>5</cp:revision>
  <dcterms:created xsi:type="dcterms:W3CDTF">2018-09-26T16:49:43Z</dcterms:created>
  <dcterms:modified xsi:type="dcterms:W3CDTF">2018-09-26T17:38:09Z</dcterms:modified>
</cp:coreProperties>
</file>